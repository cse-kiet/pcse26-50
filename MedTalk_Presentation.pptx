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36.png"/><Relationship Id="rId6" Type="http://schemas.openxmlformats.org/officeDocument/2006/relationships/image" Target="../media/image2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36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10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hyperlink" Target="https://github.com/cse-kiet/PCSE26-5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182880"/>
            <a:ext cx="201168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686800" y="182880"/>
            <a:ext cx="54864" cy="9144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772400" y="548640"/>
            <a:ext cx="1005840" cy="5486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635240" y="438912"/>
            <a:ext cx="219456" cy="219456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9144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548640" y="192024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MedTalk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28346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Explanation-Driven Adaptive Questioning for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Responsible Interpretable AI Across Regulated Sectors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3749040"/>
            <a:ext cx="3200400" cy="274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48640" y="38587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Yash Singhal · </a:t>
            </a:r>
            <a:r>
              <a:rPr b="1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Ujjwal Tomar · Tushar Singh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48640" y="4187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KIET Group of Institutions, Ghaziabad  |  AKTU Lucknow  |  B.Tech CSE 2025-26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48640" y="44622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Supervisor: Prof. Gaurav Parashar, Assistant Professor, CSE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868680" y="16459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Problem: Why Healthcare AI Fails in Practice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1005840"/>
            <a:ext cx="2560320" cy="2560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65760" y="118872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537M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65760" y="19202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adults with diabetes globally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(IDF Atlas 2021)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5760" y="25146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→ 783M by 2045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28346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&gt; $1T/year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0" y="1005840"/>
            <a:ext cx="13716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200400" y="1005840"/>
            <a:ext cx="1371600" cy="10972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12070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3255264" y="1755648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Hallucination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55264" y="2194560"/>
            <a:ext cx="12618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LLMs in TalkToModel generate plausible-but-false medical claims — dangerous in clinical decisions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681728" y="1005840"/>
            <a:ext cx="13716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681728" y="1005840"/>
            <a:ext cx="1371600" cy="10972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8928" y="12070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4736592" y="1755648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Poor Calibration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736592" y="2194560"/>
            <a:ext cx="12618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TalkToModel: Brier Score 0.189 — probabilities don't reflect true risk frequencies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163056" y="1005840"/>
            <a:ext cx="13716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163056" y="1005840"/>
            <a:ext cx="1371600" cy="10972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0256" y="12070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6217920" y="1755648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Regulatory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217920" y="2194560"/>
            <a:ext cx="12618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FDA, SEC &amp; EU AI Act require deterministic, auditable algorithms — LLMs fail this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644384" y="1005840"/>
            <a:ext cx="1371600" cy="2560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644384" y="1005840"/>
            <a:ext cx="1371600" cy="109728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1584" y="12070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7699248" y="1755648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Domain Rigidity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699248" y="2194560"/>
            <a:ext cx="12618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Learned dialogue cannot encode hard rules: anti-redlining laws, sentencing guidelines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65760" y="466344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Type 2 diabetes is 90% preventable — yet AI diagnostic tools lack the transparency clinicians and regulators demand.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64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868680" y="16459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MedTalk: What It Is &amp; How It 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65760" y="93268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"Responsible AI as an Engineering Discipline — not a Domain Afterthought"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1444752"/>
            <a:ext cx="82296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57200" y="1444752"/>
            <a:ext cx="164592" cy="7498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85800" y="149961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85800" y="17007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Interface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108960" y="1554480"/>
            <a:ext cx="20116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 Web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017520" y="1554480"/>
            <a:ext cx="219456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3017520" y="160020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 Web 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394960" y="1499616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5-step patient journey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Risk gauge · SHAP plots · EDAQ cards · Audit export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313432"/>
            <a:ext cx="82296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2313432"/>
            <a:ext cx="164592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85800" y="236829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85800" y="25694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Orchestration — EDAQ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108960" y="2423160"/>
            <a:ext cx="2011680" cy="502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Pure Python Algorithm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017520" y="2423160"/>
            <a:ext cx="2194560" cy="50292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3017520" y="24688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Pure Python Algorithm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394960" y="2368296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Adaptive question 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Fairness guardrails · Audit logger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3182112"/>
            <a:ext cx="82296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" y="3182112"/>
            <a:ext cx="164592" cy="7498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85800" y="323697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85800" y="34381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Attribution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108960" y="3291840"/>
            <a:ext cx="20116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+ LIME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017520" y="3291840"/>
            <a:ext cx="2194560" cy="5029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017520" y="333756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+ LIME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394960" y="3236976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TreeSHAP + LIME tabular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Fidelity-based selection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4050792"/>
            <a:ext cx="82296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57200" y="4050792"/>
            <a:ext cx="164592" cy="749808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85800" y="410565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85800" y="43068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Prediction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108960" y="4160520"/>
            <a:ext cx="201168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017520" y="4160520"/>
            <a:ext cx="2194560" cy="502920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017520" y="42062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394960" y="4105656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500 trees · SMOTE balancing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Platt calibration · Brier = 0.142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434840" y="2148840"/>
            <a:ext cx="274320" cy="45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434840" y="3017520"/>
            <a:ext cx="274320" cy="45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434840" y="3886200"/>
            <a:ext cx="274320" cy="45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91524"/>
          </a:solidFill>
          <a:ln cap="flat" cmpd="sng" w="12700">
            <a:solidFill>
              <a:srgbClr val="091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554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914400" y="164592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EDAQ: Explanation-Driven Adaptive Questioning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91440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The Core Innovation — automatically generates the next most clinically relevant question using SHAP feature importance + uncertainty + regulatory constraints.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65760" y="1463040"/>
            <a:ext cx="2651760" cy="1463040"/>
          </a:xfrm>
          <a:prstGeom prst="rect">
            <a:avLst/>
          </a:prstGeom>
          <a:solidFill>
            <a:srgbClr val="0A1F2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572768"/>
            <a:ext cx="411480" cy="41148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57200" y="160020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960120" y="16002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Feature Uncertainty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75488" y="208483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Computes per-feature uncertainty from missing data rates &amp; ensemble variance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200400" y="1463040"/>
            <a:ext cx="2651760" cy="1463040"/>
          </a:xfrm>
          <a:prstGeom prst="rect">
            <a:avLst/>
          </a:prstGeom>
          <a:solidFill>
            <a:srgbClr val="0A1F2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291840" y="1572768"/>
            <a:ext cx="411480" cy="411480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3291840" y="160020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794760" y="16002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Impact Filtering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310128" y="208483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Excludes features with |SHAP| &lt; 0.05 (noise suppression threshold τᵢ)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035040" y="1463040"/>
            <a:ext cx="2651760" cy="1463040"/>
          </a:xfrm>
          <a:prstGeom prst="rect">
            <a:avLst/>
          </a:prstGeom>
          <a:solidFill>
            <a:srgbClr val="0A1F2F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126480" y="1572768"/>
            <a:ext cx="411480" cy="411480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126480" y="1600200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629400" y="16002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Domain Constraints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144768" y="2084832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Removes protected attributes (race, zip-code) per sector-specific rules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65760" y="3090672"/>
            <a:ext cx="2651760" cy="1463040"/>
          </a:xfrm>
          <a:prstGeom prst="rect">
            <a:avLst/>
          </a:prstGeom>
          <a:solidFill>
            <a:srgbClr val="0A1F2F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57200" y="322783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60120" y="322783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Semantic 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75488" y="3712464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Maps feature names → domain-appropriate question templates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200400" y="3090672"/>
            <a:ext cx="2651760" cy="1463040"/>
          </a:xfrm>
          <a:prstGeom prst="rect">
            <a:avLst/>
          </a:prstGeom>
          <a:solidFill>
            <a:srgbClr val="0A1F2F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3291840" y="3200400"/>
            <a:ext cx="411480" cy="41148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3291840" y="322783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794760" y="322783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Multi-Objective Rank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310128" y="3712464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Priority = (SHAP impact × uncertainty) / response burden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035040" y="3090672"/>
            <a:ext cx="2651760" cy="1463040"/>
          </a:xfrm>
          <a:prstGeom prst="rect">
            <a:avLst/>
          </a:prstGeom>
          <a:solidFill>
            <a:srgbClr val="0A1F2F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126480" y="3200400"/>
            <a:ext cx="411480" cy="411480"/>
          </a:xfrm>
          <a:prstGeom prst="ellipse">
            <a:avLst/>
          </a:prstGeom>
          <a:solidFill>
            <a:srgbClr val="F472B6"/>
          </a:solidFill>
          <a:ln cap="flat" cmpd="sng" w="1270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126480" y="322783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629400" y="3227832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72B6"/>
                </a:solidFill>
                <a:latin typeface="Calibri"/>
                <a:ea typeface="Calibri"/>
                <a:cs typeface="Calibri"/>
                <a:sym typeface="Calibri"/>
              </a:rPr>
              <a:t>Compliance Check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144768" y="3712464"/>
            <a:ext cx="243230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Final fairness filter — no discriminatory question enters the dialogue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Runs in &lt; 100ms on CPU  ·  GPU not required  ·  Validated across Healthcare, Finance, Judiciary &amp; Insurance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554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896112" y="164592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Results: MedTalk Outperforms on Every Dimension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914400"/>
            <a:ext cx="4389120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914400"/>
            <a:ext cx="393192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320040" y="3703320"/>
            <a:ext cx="2011680" cy="12344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20040" y="3703320"/>
            <a:ext cx="2011680" cy="914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20040" y="382219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94.2%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20040" y="42793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Comprehension Rate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20040" y="4544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 73.1% (TalkToModel)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514600" y="3703320"/>
            <a:ext cx="2011680" cy="12344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2514600" y="3703320"/>
            <a:ext cx="2011680" cy="9144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514600" y="382219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6.2/7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514600" y="42793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Clinician Trust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514600" y="4544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Likert Scale (vs 4.1/7)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709160" y="3703320"/>
            <a:ext cx="2011680" cy="12344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709160" y="3703320"/>
            <a:ext cx="2011680" cy="9144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709160" y="382219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2.1×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709160" y="42793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Interaction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709160" y="4544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63.2s vs 134.7s avg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903720" y="3703320"/>
            <a:ext cx="2011680" cy="12344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903720" y="3703320"/>
            <a:ext cx="2011680" cy="9144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903720" y="382219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88.4%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903720" y="42793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Completion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903720" y="4544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 65.3% (TalkToModel)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 Study N=32 healthcare professionals (12 doctors, 10 nurses, 10 trainees)  |  p &lt; 0.001 for all metrics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554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896112" y="164592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Cross-Domain Generalizability &amp; Regulatory Alignment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57200" y="9144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MedTalk's EDAQ is NOT healthcare-only. Domain adaptation requires only a question template dictionary + constraint rules — no model retraining.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20040" y="1463040"/>
            <a:ext cx="2029968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320040" y="1463040"/>
            <a:ext cx="2029968" cy="109728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6424" y="16642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320040" y="2194560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20040" y="2496312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Diabetes / SaMD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29768" y="2834640"/>
            <a:ext cx="1810512" cy="2743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20040" y="2944368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Constraint: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11480" y="3127248"/>
            <a:ext cx="1847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Physiological plausibility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(HbA1c ∈ [4%,14%])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11480" y="3785616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89.4% acc · AUROC 0.921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93192" y="420624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FDA 510(k)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93192" y="4187952"/>
            <a:ext cx="1883664" cy="41148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393192" y="4224528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FDA 510(k)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532888" y="1463040"/>
            <a:ext cx="2029968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2532888" y="1463040"/>
            <a:ext cx="2029968" cy="10972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9272" y="16642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2532888" y="2194560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532888" y="2496312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Loan Approval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642616" y="2834640"/>
            <a:ext cx="1810512" cy="2743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2532888" y="2944368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Constraint: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624328" y="3127248"/>
            <a:ext cx="1847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Anti-redlining rules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(FCRA, FHA, ECOA)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624328" y="3785616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98.4% constraint adherence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2606040" y="420624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 XAI Mandate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2606040" y="4187952"/>
            <a:ext cx="1883664" cy="4114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2606040" y="4224528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 XAI Mandate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745736" y="1463040"/>
            <a:ext cx="2029968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745736" y="1463040"/>
            <a:ext cx="2029968" cy="109728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2120" y="16642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4745736" y="2194560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Judiciary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745736" y="2496312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Recidivism Risk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855464" y="2834640"/>
            <a:ext cx="1810512" cy="2743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745736" y="2944368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Constraint: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837176" y="3127248"/>
            <a:ext cx="1847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Decision-support 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protected-attr scoring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837176" y="3785616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96.8% constraint adherence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818888" y="420624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 AI Act Art. 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818888" y="4187952"/>
            <a:ext cx="1883664" cy="41148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4818888" y="4224528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 AI Act Art. 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958584" y="1463040"/>
            <a:ext cx="2029968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958584" y="1463040"/>
            <a:ext cx="2029968" cy="109728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44968" y="16642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6958584" y="2194560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Insurance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958584" y="2496312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Claims Underwriting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068312" y="2834640"/>
            <a:ext cx="1810512" cy="2743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958584" y="2944368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Constraint: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7050024" y="3127248"/>
            <a:ext cx="1847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Anti-discrimination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underwriting rules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7050024" y="3785616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97.6% constraint adherence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7031736" y="4206240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 Insurance Laws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031736" y="4187952"/>
            <a:ext cx="1883664" cy="41148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7031736" y="4224528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 Insurance Laws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554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896112" y="164592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 &amp; Dataset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20040" y="960120"/>
            <a:ext cx="5029200" cy="3913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320040" y="960120"/>
            <a:ext cx="5029200" cy="4114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320040" y="97840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20040" y="1371600"/>
            <a:ext cx="5029200" cy="356616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457200" y="14264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2286000" y="14264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206240" y="142646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320040" y="1728216"/>
            <a:ext cx="5029200" cy="35661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457200" y="17830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Core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2286000" y="17830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206240" y="178308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 1.3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20040" y="2084832"/>
            <a:ext cx="5029200" cy="3566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57200" y="213969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SHAP Attribution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286000" y="21396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SHAP (TreeExplainer)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206240" y="213969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 0.42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20040" y="2441448"/>
            <a:ext cx="5029200" cy="35661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57200" y="249631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LIME Attribution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2286000" y="24963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LIME Tabular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206240" y="249631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 0.2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320040" y="2798064"/>
            <a:ext cx="5029200" cy="3566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457200" y="285292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 Balancing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2286000" y="2852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Imbalanced-learn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206240" y="285292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 0.11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320040" y="3154680"/>
            <a:ext cx="5029200" cy="35661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457200" y="320954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Web Interface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2286000" y="32095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206240" y="320954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 1.28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20040" y="3511296"/>
            <a:ext cx="5029200" cy="3566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57200" y="356616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2286000" y="35661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Pandas / NumPy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206240" y="35661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 2.0 / 1.24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320040" y="3867912"/>
            <a:ext cx="5029200" cy="35661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57200" y="392277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Visualisation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2286000" y="392277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Plotly / Matplotlib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206240" y="392277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 5.15 / 3.7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320040" y="4224528"/>
            <a:ext cx="5029200" cy="3566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457200" y="42793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2286000" y="42793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ReportLab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4206240" y="427939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 4.0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20040" y="4581144"/>
            <a:ext cx="5029200" cy="35661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457200" y="46360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2286000" y="46360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206240" y="46360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3.9 – 3.10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532120" y="960120"/>
            <a:ext cx="32918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532120" y="960120"/>
            <a:ext cx="3291840" cy="4114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3560" y="10058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9"/>
          <p:cNvSpPr/>
          <p:nvPr/>
        </p:nvSpPr>
        <p:spPr>
          <a:xfrm>
            <a:off x="5989320" y="100584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7840" y="1426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9"/>
          <p:cNvSpPr/>
          <p:nvPr/>
        </p:nvSpPr>
        <p:spPr>
          <a:xfrm>
            <a:off x="5833872" y="141732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Pima Indians Diabetes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40" y="16824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9"/>
          <p:cNvSpPr/>
          <p:nvPr/>
        </p:nvSpPr>
        <p:spPr>
          <a:xfrm>
            <a:off x="5833872" y="167335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 = 768 female patients  ·  8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9" name="Google Shape;29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40" y="19385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9"/>
          <p:cNvSpPr/>
          <p:nvPr/>
        </p:nvSpPr>
        <p:spPr>
          <a:xfrm>
            <a:off x="5833872" y="192938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Source: UCI ML Repo / NIDDK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40" y="2194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9"/>
          <p:cNvSpPr/>
          <p:nvPr/>
        </p:nvSpPr>
        <p:spPr>
          <a:xfrm>
            <a:off x="5833872" y="218541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65% Non-diabetic / 35% Diabetic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3" name="Google Shape;30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40" y="24505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9"/>
          <p:cNvSpPr/>
          <p:nvPr/>
        </p:nvSpPr>
        <p:spPr>
          <a:xfrm>
            <a:off x="5833872" y="24414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SMOTE balancing applied on training 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40" y="27066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9"/>
          <p:cNvSpPr/>
          <p:nvPr/>
        </p:nvSpPr>
        <p:spPr>
          <a:xfrm>
            <a:off x="5833872" y="269748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Zero-values imputed with column medians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532120" y="2926080"/>
            <a:ext cx="3291840" cy="6858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5532120" y="29718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100% CPU Compatible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532120" y="32461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GPU required · &lt; 100ms EDAQ inference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532120" y="3703320"/>
            <a:ext cx="3291840" cy="11704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5669280" y="37673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Cross-Domain Datasets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5669280" y="407822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Finance (Synthetic)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7772400" y="4078224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N=500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669280" y="433425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Judiciary (Synthetic)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7772400" y="4334256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N=400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669280" y="459028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Insurance (Synthetic)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7772400" y="4590288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N=350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91524"/>
          </a:solidFill>
          <a:ln cap="flat" cmpd="sng" w="12700">
            <a:solidFill>
              <a:srgbClr val="091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5544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0"/>
          <p:cNvSpPr/>
          <p:nvPr/>
        </p:nvSpPr>
        <p:spPr>
          <a:xfrm>
            <a:off x="914400" y="164592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20040" y="960120"/>
            <a:ext cx="5120640" cy="3017520"/>
          </a:xfrm>
          <a:prstGeom prst="rect">
            <a:avLst/>
          </a:prstGeom>
          <a:solidFill>
            <a:srgbClr val="0A1F2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457200" y="102412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Key Achievements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9" name="Google Shape;3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49047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841248" y="149047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89.4% accuracy · 0.921 AUROC · Brier 0.142 on PIDD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188366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/>
          <p:nvPr/>
        </p:nvSpPr>
        <p:spPr>
          <a:xfrm>
            <a:off x="841248" y="1883664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94.2% clinical comprehension — 21-pt improvement over TalkToModel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22768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0"/>
          <p:cNvSpPr/>
          <p:nvPr/>
        </p:nvSpPr>
        <p:spPr>
          <a:xfrm>
            <a:off x="841248" y="227685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96–98% domain constraint adherence across 4 regulated sectors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26700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/>
          <p:nvPr/>
        </p:nvSpPr>
        <p:spPr>
          <a:xfrm>
            <a:off x="841248" y="267004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EDAQ: novel, domain-agnostic adaptive questioning algorithm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3063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0"/>
          <p:cNvSpPr/>
          <p:nvPr/>
        </p:nvSpPr>
        <p:spPr>
          <a:xfrm>
            <a:off x="841248" y="3063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Zero hallucination risk — fully deterministic, auditable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" y="34564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/>
          <p:nvPr/>
        </p:nvSpPr>
        <p:spPr>
          <a:xfrm>
            <a:off x="841248" y="345643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Designed for FDA 510(k) · EU AI Act · SEC XAI compliance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623560" y="960120"/>
            <a:ext cx="3200400" cy="3017520"/>
          </a:xfrm>
          <a:prstGeom prst="rect">
            <a:avLst/>
          </a:prstGeom>
          <a:solidFill>
            <a:srgbClr val="0A1F2F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5760720" y="102412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0" y="15087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/>
          <p:nvPr/>
        </p:nvSpPr>
        <p:spPr>
          <a:xfrm>
            <a:off x="6007608" y="149047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Federated learning for multi-hospital training without sharing raw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0" y="19019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0"/>
          <p:cNvSpPr/>
          <p:nvPr/>
        </p:nvSpPr>
        <p:spPr>
          <a:xfrm>
            <a:off x="6007608" y="1883664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LSTM + SHAP for temporal EHR time-series modelling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0" y="22951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/>
          <p:nvPr/>
        </p:nvSpPr>
        <p:spPr>
          <a:xfrm>
            <a:off x="6007608" y="2276856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Mobile PWA for point-of-care deployment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9" name="Google Shape;349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0" y="268833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0"/>
          <p:cNvSpPr/>
          <p:nvPr/>
        </p:nvSpPr>
        <p:spPr>
          <a:xfrm>
            <a:off x="6007608" y="2670048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FDA 510(k) formal submission pathway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0" y="30815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6007608" y="306324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Real-world finance &amp; judiciary institution partnerships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0" y="34747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/>
          <p:nvPr/>
        </p:nvSpPr>
        <p:spPr>
          <a:xfrm>
            <a:off x="6007608" y="345643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100+ regulated sector templates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320040" y="4160520"/>
            <a:ext cx="8503920" cy="71323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457200" y="42245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"MedTalk demonstrates that the trade-off between predictive power and interpretability is not a hard rule in machine learning — Responsible AI is an engineering discipline."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7772400" y="457200"/>
            <a:ext cx="1828800" cy="1828800"/>
          </a:xfrm>
          <a:prstGeom prst="ellipse">
            <a:avLst/>
          </a:prstGeom>
          <a:solidFill>
            <a:srgbClr val="02C39A">
              <a:alpha val="10196"/>
            </a:srgbClr>
          </a:solidFill>
          <a:ln cap="flat" cmpd="sng" w="12700">
            <a:solidFill>
              <a:srgbClr val="02C39A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40" y="41148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1"/>
          <p:cNvSpPr/>
          <p:nvPr/>
        </p:nvSpPr>
        <p:spPr>
          <a:xfrm>
            <a:off x="914400" y="21488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3200400" y="2999232"/>
            <a:ext cx="27432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914400" y="315468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Yash Singhal · </a:t>
            </a: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Ujjwal Tomar · Tushar Singh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914400" y="35295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B.Tech CSE  |  KIET Group of Institutions, Ghaziabad  |  AKTU Lucknow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914400" y="384048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Supervisor: Prof. Gaurav Parashar, Assistant Professor, CSE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2286000" y="4224528"/>
            <a:ext cx="4572000" cy="621792"/>
          </a:xfrm>
          <a:prstGeom prst="rect">
            <a:avLst/>
          </a:prstGeom>
          <a:solidFill>
            <a:srgbClr val="091524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2286000" y="4297680"/>
            <a:ext cx="4572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50"/>
              <a:buFont typeface="Calibri"/>
              <a:buNone/>
            </a:pPr>
            <a:r>
              <a:rPr lang="en-US" sz="1100" u="sng">
                <a:solidFill>
                  <a:schemeClr val="hlink"/>
                </a:solidFill>
                <a:hlinkClick r:id="rId4"/>
              </a:rPr>
              <a:t>https://github.com/cse-kiet/PCSE26-50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914400" y="482803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